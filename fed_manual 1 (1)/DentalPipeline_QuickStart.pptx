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5F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92868EC-0A2F-8438-AECC-3E18B0071D4D}" v="499" dt="2026-05-11T10:39:55.765"/>
    <p1510:client id="{74328A88-A20A-B06B-7C49-8A47E8C67F7B}" v="523" dt="2026-05-11T11:18:07.580"/>
    <p1510:client id="{90290C75-93C9-A942-498C-D9E2E96DD6A3}" v="33" dt="2026-05-11T11:20:27.9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6CA47D-80FC-43CF-826A-EB86D8B719EB}" type="datetimeFigureOut"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256A1F-6452-4DCF-BB55-B80062C7DC1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886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-731520"/>
            <a:ext cx="2926080" cy="2926080"/>
          </a:xfrm>
          <a:prstGeom prst="ellipse">
            <a:avLst/>
          </a:prstGeom>
          <a:solidFill>
            <a:srgbClr val="028090">
              <a:alpha val="12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2926080"/>
            <a:ext cx="1828800" cy="1828800"/>
          </a:xfrm>
          <a:prstGeom prst="ellipse">
            <a:avLst/>
          </a:prstGeom>
          <a:solidFill>
            <a:srgbClr val="028090">
              <a:alpha val="18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GUIDE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7315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Dental Implant</a:t>
            </a:r>
            <a:endParaRPr lang="en-US" sz="44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 Pipeline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in 3 steps · Click once to run · No configuration needed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42062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Install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560320" y="42062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185FA5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Activate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63440" y="4206240"/>
            <a:ext cx="1920240" cy="502920"/>
          </a:xfrm>
          <a:prstGeom prst="roundRect">
            <a:avLst>
              <a:gd name="adj" fmla="val 18182"/>
            </a:avLst>
          </a:prstGeom>
          <a:solidFill>
            <a:srgbClr val="534AB7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42062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1606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8229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2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Requirements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125583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25583"/>
            <a:ext cx="64008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Shape 6"/>
          <p:cNvSpPr/>
          <p:nvPr/>
        </p:nvSpPr>
        <p:spPr>
          <a:xfrm>
            <a:off x="438912" y="1308463"/>
            <a:ext cx="658368" cy="65836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18191"/>
            <a:ext cx="438912" cy="43891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1217023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3.10 or newer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280160" y="156449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python.org/downloads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858000" y="1445623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0" y="1445623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1280160" y="1838815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During install: tick "Add Python to PATH"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74320" y="2360023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74320" y="2360023"/>
            <a:ext cx="64008" cy="1051560"/>
          </a:xfrm>
          <a:prstGeom prst="rect">
            <a:avLst/>
          </a:prstGeom>
          <a:solidFill>
            <a:srgbClr val="5A7A96"/>
          </a:solidFill>
          <a:ln/>
        </p:spPr>
      </p:sp>
      <p:sp>
        <p:nvSpPr>
          <p:cNvPr id="17" name="Shape 14"/>
          <p:cNvSpPr/>
          <p:nvPr/>
        </p:nvSpPr>
        <p:spPr>
          <a:xfrm>
            <a:off x="438912" y="2542903"/>
            <a:ext cx="658368" cy="658368"/>
          </a:xfrm>
          <a:prstGeom prst="ellipse">
            <a:avLst/>
          </a:prstGeom>
          <a:solidFill>
            <a:srgbClr val="8099AF"/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652631"/>
            <a:ext cx="438912" cy="4389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280160" y="2451463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NVIDIA GPU driver</a:t>
            </a:r>
            <a:endParaRPr lang="en-US" sz="1700" dirty="0"/>
          </a:p>
        </p:txBody>
      </p:sp>
      <p:sp>
        <p:nvSpPr>
          <p:cNvPr id="20" name="Text 16"/>
          <p:cNvSpPr/>
          <p:nvPr/>
        </p:nvSpPr>
        <p:spPr>
          <a:xfrm>
            <a:off x="1280160" y="279893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from nvidia.com/drivers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858000" y="2680063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8099AF">
              <a:alpha val="85000"/>
            </a:srgbClr>
          </a:solidFill>
          <a:ln/>
        </p:spPr>
      </p:sp>
      <p:sp>
        <p:nvSpPr>
          <p:cNvPr id="22" name="Text 18"/>
          <p:cNvSpPr/>
          <p:nvPr/>
        </p:nvSpPr>
        <p:spPr>
          <a:xfrm>
            <a:off x="6858000" y="2680063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23" name="Text 19"/>
          <p:cNvSpPr/>
          <p:nvPr/>
        </p:nvSpPr>
        <p:spPr>
          <a:xfrm>
            <a:off x="1280160" y="3073255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Optional — speeds up training a lot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274320" y="3594463"/>
            <a:ext cx="8595360" cy="1051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74320" y="3594463"/>
            <a:ext cx="64008" cy="1051560"/>
          </a:xfrm>
          <a:prstGeom prst="rect">
            <a:avLst/>
          </a:prstGeom>
          <a:solidFill>
            <a:srgbClr val="5A7A96"/>
          </a:solidFill>
          <a:ln/>
        </p:spPr>
      </p:sp>
      <p:sp>
        <p:nvSpPr>
          <p:cNvPr id="26" name="Shape 22"/>
          <p:cNvSpPr/>
          <p:nvPr/>
        </p:nvSpPr>
        <p:spPr>
          <a:xfrm>
            <a:off x="438912" y="3777343"/>
            <a:ext cx="658368" cy="658368"/>
          </a:xfrm>
          <a:prstGeom prst="ellipse">
            <a:avLst/>
          </a:prstGeom>
          <a:solidFill>
            <a:srgbClr val="8099AF"/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887071"/>
            <a:ext cx="438912" cy="43891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280160" y="3685903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</a:t>
            </a:r>
            <a:endParaRPr lang="en-US" sz="1700" dirty="0"/>
          </a:p>
        </p:txBody>
      </p:sp>
      <p:sp>
        <p:nvSpPr>
          <p:cNvPr id="29" name="Text 24"/>
          <p:cNvSpPr/>
          <p:nvPr/>
        </p:nvSpPr>
        <p:spPr>
          <a:xfrm>
            <a:off x="1280160" y="4033375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if you want to clone from a repository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858000" y="3914503"/>
            <a:ext cx="1737360" cy="347472"/>
          </a:xfrm>
          <a:prstGeom prst="roundRect">
            <a:avLst>
              <a:gd name="adj" fmla="val 21053"/>
            </a:avLst>
          </a:prstGeom>
          <a:solidFill>
            <a:srgbClr val="8099AF">
              <a:alpha val="85000"/>
            </a:srgbClr>
          </a:solidFill>
          <a:ln/>
        </p:spPr>
      </p:sp>
      <p:sp>
        <p:nvSpPr>
          <p:cNvPr id="31" name="Text 26"/>
          <p:cNvSpPr/>
          <p:nvPr/>
        </p:nvSpPr>
        <p:spPr>
          <a:xfrm>
            <a:off x="6858000" y="3914503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000" dirty="0"/>
          </a:p>
        </p:txBody>
      </p:sp>
      <p:sp>
        <p:nvSpPr>
          <p:cNvPr id="32" name="Text 27"/>
          <p:cNvSpPr/>
          <p:nvPr/>
        </p:nvSpPr>
        <p:spPr>
          <a:xfrm>
            <a:off x="1280160" y="4307695"/>
            <a:ext cx="5943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9A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ℹ  Optional — not needed if you already have the files</a:t>
            </a:r>
            <a:endParaRPr lang="en-US" sz="1000" dirty="0"/>
          </a:p>
        </p:txBody>
      </p:sp>
      <p:sp>
        <p:nvSpPr>
          <p:cNvPr id="33" name="Shape 28"/>
          <p:cNvSpPr/>
          <p:nvPr/>
        </p:nvSpPr>
        <p:spPr>
          <a:xfrm>
            <a:off x="274320" y="4719774"/>
            <a:ext cx="8595360" cy="384048"/>
          </a:xfrm>
          <a:prstGeom prst="roundRect">
            <a:avLst>
              <a:gd name="adj" fmla="val 16667"/>
            </a:avLst>
          </a:prstGeom>
          <a:solidFill>
            <a:srgbClr val="E1F7F4"/>
          </a:solidFill>
          <a:ln>
            <a:solidFill>
              <a:schemeClr val="bg1"/>
            </a:solidFill>
          </a:ln>
        </p:spPr>
      </p:sp>
      <p:sp>
        <p:nvSpPr>
          <p:cNvPr id="34" name="Text 29"/>
          <p:cNvSpPr/>
          <p:nvPr/>
        </p:nvSpPr>
        <p:spPr>
          <a:xfrm>
            <a:off x="411480" y="4740184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2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No GPU? The pipeline still works on CPU — training will just take longer. Everything adjusts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1606D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2E8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— DO THIS ONCE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" y="102870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36320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 6"/>
          <p:cNvSpPr/>
          <p:nvPr/>
        </p:nvSpPr>
        <p:spPr>
          <a:xfrm>
            <a:off x="914400" y="1071372"/>
            <a:ext cx="79552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1A2C3D"/>
                </a:solidFill>
                <a:latin typeface="Georgia"/>
                <a:ea typeface="Georgia" pitchFamily="34" charset="-122"/>
                <a:cs typeface="Georgia" pitchFamily="34" charset="-120"/>
              </a:rPr>
              <a:t>Extract all the script files into a folder</a:t>
            </a:r>
            <a:endParaRPr lang="en-US" sz="1600">
              <a:latin typeface="Georgia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66700" y="1542288"/>
            <a:ext cx="8595360" cy="82296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25780" y="1551432"/>
            <a:ext cx="8176260" cy="8260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en-US" sz="1100" b="1">
                <a:solidFill>
                  <a:srgbClr val="02C39A"/>
                </a:solidFill>
                <a:latin typeface="Consolas"/>
              </a:rPr>
              <a:t>project_name/</a:t>
            </a:r>
            <a:endParaRPr lang="en-US" sz="1100" dirty="0">
              <a:latin typeface="Consolas"/>
            </a:endParaRPr>
          </a:p>
          <a:p>
            <a:pPr lvl="1"/>
            <a:r>
              <a:rPr lang="en-US" sz="1100">
                <a:solidFill>
                  <a:srgbClr val="7ECEF0"/>
                </a:solidFill>
                <a:latin typeface="Consolas"/>
                <a:ea typeface="Consolas" pitchFamily="34" charset="-122"/>
                <a:cs typeface="Consolas" pitchFamily="34" charset="-120"/>
              </a:rPr>
              <a:t>(0) run_all.py</a:t>
            </a:r>
            <a:endParaRPr lang="en-US" sz="1100">
              <a:latin typeface="Consolas"/>
              <a:ea typeface="Calibri" panose="020F0502020204030204"/>
              <a:cs typeface="Calibri" panose="020F0502020204030204"/>
            </a:endParaRPr>
          </a:p>
          <a:p>
            <a:pPr lvl="1" indent="0">
              <a:buNone/>
            </a:pPr>
            <a:r>
              <a:rPr lang="en-US" sz="1100" dirty="0">
                <a:solidFill>
                  <a:srgbClr val="AACF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setup_env.sh</a:t>
            </a:r>
            <a:endParaRPr lang="en-US" sz="1100" dirty="0">
              <a:ea typeface="Calibri" panose="020F0502020204030204"/>
              <a:cs typeface="Calibri" panose="020F0502020204030204"/>
            </a:endParaRPr>
          </a:p>
          <a:p>
            <a:pPr lvl="1" indent="0">
              <a:buNone/>
            </a:pPr>
            <a:r>
              <a:rPr lang="en-US" sz="1100">
                <a:solidFill>
                  <a:srgbClr val="AACF72"/>
                </a:solidFill>
                <a:latin typeface="Consolas"/>
                <a:ea typeface="Consolas" pitchFamily="34" charset="-122"/>
                <a:cs typeface="Consolas" pitchFamily="34" charset="-120"/>
              </a:rPr>
              <a:t>  setup_env.bat</a:t>
            </a:r>
            <a:endParaRPr lang="en-US" sz="1100">
              <a:latin typeface="Consola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74320" y="3759708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759708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Georgia"/>
              </a:rPr>
              <a:t>3</a:t>
            </a:r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914400" y="3787140"/>
            <a:ext cx="79552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C3D"/>
                </a:solidFill>
                <a:latin typeface="Georgia"/>
                <a:ea typeface="Georgia" pitchFamily="34" charset="-122"/>
                <a:cs typeface="Georgia" pitchFamily="34" charset="-120"/>
              </a:rPr>
              <a:t>Run the setup script</a:t>
            </a:r>
            <a:endParaRPr lang="en-US" sz="1600">
              <a:latin typeface="Georgia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74320" y="4285488"/>
            <a:ext cx="4160520" cy="82296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" y="43403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4048" y="45598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setup_env.sh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4285488"/>
            <a:ext cx="4160520" cy="82296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73168" y="4340352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73168" y="4559808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setup_env.bat</a:t>
            </a:r>
            <a:endParaRPr lang="en-US" sz="14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3DCBD429-B3EF-64C8-05B9-6F9F76B3A2B5}"/>
              </a:ext>
            </a:extLst>
          </p:cNvPr>
          <p:cNvSpPr/>
          <p:nvPr/>
        </p:nvSpPr>
        <p:spPr>
          <a:xfrm>
            <a:off x="266700" y="2395727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1634E09E-16BF-2663-669D-09D13CF05BDC}"/>
              </a:ext>
            </a:extLst>
          </p:cNvPr>
          <p:cNvSpPr/>
          <p:nvPr/>
        </p:nvSpPr>
        <p:spPr>
          <a:xfrm>
            <a:off x="266700" y="2395727"/>
            <a:ext cx="50292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FFFFFF"/>
                </a:solidFill>
                <a:latin typeface="Georgia"/>
              </a:rPr>
              <a:t>2</a:t>
            </a:r>
            <a:endParaRPr lang="en-US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885DBDC6-8168-E9F6-4178-50D77A096BCB}"/>
              </a:ext>
            </a:extLst>
          </p:cNvPr>
          <p:cNvSpPr/>
          <p:nvPr/>
        </p:nvSpPr>
        <p:spPr>
          <a:xfrm>
            <a:off x="906780" y="2423159"/>
            <a:ext cx="795528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 dirty="0">
                <a:solidFill>
                  <a:srgbClr val="1A2C3D"/>
                </a:solidFill>
                <a:latin typeface="Georgia"/>
              </a:rPr>
              <a:t>Open a terminal and go to the </a:t>
            </a:r>
            <a:r>
              <a:rPr lang="en-US" sz="1600" b="1">
                <a:solidFill>
                  <a:srgbClr val="1A2C3D"/>
                </a:solidFill>
                <a:latin typeface="Georgia"/>
              </a:rPr>
              <a:t>project</a:t>
            </a:r>
            <a:r>
              <a:rPr lang="en-US" sz="1600" b="1" dirty="0">
                <a:solidFill>
                  <a:srgbClr val="1A2C3D"/>
                </a:solidFill>
                <a:latin typeface="Georgia"/>
              </a:rPr>
              <a:t> folder</a:t>
            </a:r>
            <a:endParaRPr lang="en-US" dirty="0"/>
          </a:p>
        </p:txBody>
      </p:sp>
      <p:sp>
        <p:nvSpPr>
          <p:cNvPr id="34" name="Shape 12">
            <a:extLst>
              <a:ext uri="{FF2B5EF4-FFF2-40B4-BE49-F238E27FC236}">
                <a16:creationId xmlns:a16="http://schemas.microsoft.com/office/drawing/2014/main" id="{B15EE732-99B7-6D16-4DCD-265A1B336CCE}"/>
              </a:ext>
            </a:extLst>
          </p:cNvPr>
          <p:cNvSpPr/>
          <p:nvPr/>
        </p:nvSpPr>
        <p:spPr>
          <a:xfrm>
            <a:off x="266700" y="2921507"/>
            <a:ext cx="4160520" cy="82296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13">
            <a:extLst>
              <a:ext uri="{FF2B5EF4-FFF2-40B4-BE49-F238E27FC236}">
                <a16:creationId xmlns:a16="http://schemas.microsoft.com/office/drawing/2014/main" id="{5E45D4DA-DE77-EFA8-C647-7206A3CFEBDB}"/>
              </a:ext>
            </a:extLst>
          </p:cNvPr>
          <p:cNvSpPr/>
          <p:nvPr/>
        </p:nvSpPr>
        <p:spPr>
          <a:xfrm>
            <a:off x="376428" y="2976371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</a:t>
            </a:r>
            <a:endParaRPr lang="en-US" sz="900" dirty="0"/>
          </a:p>
        </p:txBody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E95451CB-2DC4-85EC-1A17-164B4248DE0E}"/>
              </a:ext>
            </a:extLst>
          </p:cNvPr>
          <p:cNvSpPr/>
          <p:nvPr/>
        </p:nvSpPr>
        <p:spPr>
          <a:xfrm>
            <a:off x="384048" y="3172967"/>
            <a:ext cx="3924300" cy="4343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dirty="0">
                <a:solidFill>
                  <a:srgbClr val="02C39A"/>
                </a:solidFill>
                <a:latin typeface="Consolas"/>
              </a:rPr>
              <a:t>cd home</a:t>
            </a:r>
            <a:r>
              <a:rPr lang="en-US" sz="1400" b="1" dirty="0">
                <a:solidFill>
                  <a:srgbClr val="02C39A"/>
                </a:solidFill>
                <a:latin typeface="Consolas"/>
                <a:ea typeface="+mn-lt"/>
                <a:cs typeface="+mn-lt"/>
              </a:rPr>
              <a:t>/&lt;user&gt;/Desktop</a:t>
            </a:r>
            <a:r>
              <a:rPr lang="en-US" sz="1400" b="1" dirty="0">
                <a:solidFill>
                  <a:srgbClr val="02C39A"/>
                </a:solidFill>
                <a:latin typeface="Consolas"/>
              </a:rPr>
              <a:t>/</a:t>
            </a:r>
            <a:r>
              <a:rPr lang="en-US" sz="1400" b="1" dirty="0" err="1">
                <a:solidFill>
                  <a:srgbClr val="02C39A"/>
                </a:solidFill>
                <a:latin typeface="Consolas"/>
                <a:ea typeface="+mn-lt"/>
                <a:cs typeface="+mn-lt"/>
              </a:rPr>
              <a:t>project_name</a:t>
            </a:r>
          </a:p>
        </p:txBody>
      </p:sp>
      <p:sp>
        <p:nvSpPr>
          <p:cNvPr id="37" name="Shape 15">
            <a:extLst>
              <a:ext uri="{FF2B5EF4-FFF2-40B4-BE49-F238E27FC236}">
                <a16:creationId xmlns:a16="http://schemas.microsoft.com/office/drawing/2014/main" id="{759A4CE2-73A5-43CC-A2A1-5B549088E19C}"/>
              </a:ext>
            </a:extLst>
          </p:cNvPr>
          <p:cNvSpPr/>
          <p:nvPr/>
        </p:nvSpPr>
        <p:spPr>
          <a:xfrm>
            <a:off x="4655820" y="2921507"/>
            <a:ext cx="4160520" cy="82296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FD1C894A-B913-5118-3E57-D43FFA3CAEF6}"/>
              </a:ext>
            </a:extLst>
          </p:cNvPr>
          <p:cNvSpPr/>
          <p:nvPr/>
        </p:nvSpPr>
        <p:spPr>
          <a:xfrm>
            <a:off x="4765548" y="2976371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00" dirty="0"/>
          </a:p>
        </p:txBody>
      </p:sp>
      <p:sp>
        <p:nvSpPr>
          <p:cNvPr id="39" name="Text 17">
            <a:extLst>
              <a:ext uri="{FF2B5EF4-FFF2-40B4-BE49-F238E27FC236}">
                <a16:creationId xmlns:a16="http://schemas.microsoft.com/office/drawing/2014/main" id="{46063732-36F2-7DFD-705C-FE52B7A98FF0}"/>
              </a:ext>
            </a:extLst>
          </p:cNvPr>
          <p:cNvSpPr/>
          <p:nvPr/>
        </p:nvSpPr>
        <p:spPr>
          <a:xfrm>
            <a:off x="4772351" y="3182220"/>
            <a:ext cx="4102009" cy="43189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 dirty="0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cd C:\Users\&lt;user&gt;\Desktop\</a:t>
            </a:r>
            <a:r>
              <a:rPr lang="en-US" sz="1400" b="1" dirty="0" err="1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project_name</a:t>
            </a:r>
            <a:endParaRPr lang="en-US" sz="1400" dirty="0" err="1">
              <a:solidFill>
                <a:srgbClr val="02C39A"/>
              </a:solidFill>
              <a:latin typeface="Consolas"/>
              <a:ea typeface="Consolas" pitchFamily="34" charset="-122"/>
              <a:cs typeface="Consolas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E4A88"/>
          </a:solidFill>
          <a:ln/>
        </p:spPr>
      </p:sp>
      <p:sp>
        <p:nvSpPr>
          <p:cNvPr id="53" name="Shape 7">
            <a:extLst>
              <a:ext uri="{FF2B5EF4-FFF2-40B4-BE49-F238E27FC236}">
                <a16:creationId xmlns:a16="http://schemas.microsoft.com/office/drawing/2014/main" id="{7633B79E-80F7-070A-8486-45E2AD3415DC}"/>
              </a:ext>
            </a:extLst>
          </p:cNvPr>
          <p:cNvSpPr/>
          <p:nvPr/>
        </p:nvSpPr>
        <p:spPr>
          <a:xfrm>
            <a:off x="277041" y="1651961"/>
            <a:ext cx="4076700" cy="69342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2" name="Shape 7">
            <a:extLst>
              <a:ext uri="{FF2B5EF4-FFF2-40B4-BE49-F238E27FC236}">
                <a16:creationId xmlns:a16="http://schemas.microsoft.com/office/drawing/2014/main" id="{3CA22A5C-9C20-E033-B07E-78BEAA29054A}"/>
              </a:ext>
            </a:extLst>
          </p:cNvPr>
          <p:cNvSpPr/>
          <p:nvPr/>
        </p:nvSpPr>
        <p:spPr>
          <a:xfrm>
            <a:off x="277041" y="3800802"/>
            <a:ext cx="8595360" cy="69342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4" name="Shape 7">
            <a:extLst>
              <a:ext uri="{FF2B5EF4-FFF2-40B4-BE49-F238E27FC236}">
                <a16:creationId xmlns:a16="http://schemas.microsoft.com/office/drawing/2014/main" id="{46F2C527-026D-3EA5-E953-DBADA6537C8E}"/>
              </a:ext>
            </a:extLst>
          </p:cNvPr>
          <p:cNvSpPr/>
          <p:nvPr/>
        </p:nvSpPr>
        <p:spPr>
          <a:xfrm>
            <a:off x="4620441" y="1651960"/>
            <a:ext cx="4251960" cy="69342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Text 2">
            <a:extLst>
              <a:ext uri="{FF2B5EF4-FFF2-40B4-BE49-F238E27FC236}">
                <a16:creationId xmlns:a16="http://schemas.microsoft.com/office/drawing/2014/main" id="{AF0ED781-3D22-6323-E0D0-73A732D205D3}"/>
              </a:ext>
            </a:extLst>
          </p:cNvPr>
          <p:cNvSpPr/>
          <p:nvPr/>
        </p:nvSpPr>
        <p:spPr>
          <a:xfrm>
            <a:off x="274320" y="73152"/>
            <a:ext cx="4572000" cy="237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b="1" kern="0" spc="300" dirty="0">
                <a:solidFill>
                  <a:srgbClr val="B2D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START</a:t>
            </a:r>
            <a:endParaRPr lang="en-US" sz="1000" dirty="0"/>
          </a:p>
        </p:txBody>
      </p:sp>
      <p:sp>
        <p:nvSpPr>
          <p:cNvPr id="38" name="Text 3">
            <a:extLst>
              <a:ext uri="{FF2B5EF4-FFF2-40B4-BE49-F238E27FC236}">
                <a16:creationId xmlns:a16="http://schemas.microsoft.com/office/drawing/2014/main" id="{2A06A8E3-CCD8-2243-C54C-6D294DA05C2A}"/>
              </a:ext>
            </a:extLst>
          </p:cNvPr>
          <p:cNvSpPr/>
          <p:nvPr/>
        </p:nvSpPr>
        <p:spPr>
          <a:xfrm>
            <a:off x="27432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 &amp; Add Data</a:t>
            </a:r>
            <a:endParaRPr lang="en-US" sz="3000" dirty="0"/>
          </a:p>
        </p:txBody>
      </p:sp>
      <p:sp>
        <p:nvSpPr>
          <p:cNvPr id="39" name="Text 5">
            <a:extLst>
              <a:ext uri="{FF2B5EF4-FFF2-40B4-BE49-F238E27FC236}">
                <a16:creationId xmlns:a16="http://schemas.microsoft.com/office/drawing/2014/main" id="{523F5B00-36E5-0D84-9BE2-20ED9AC0684C}"/>
              </a:ext>
            </a:extLst>
          </p:cNvPr>
          <p:cNvSpPr/>
          <p:nvPr/>
        </p:nvSpPr>
        <p:spPr>
          <a:xfrm>
            <a:off x="274320" y="1115568"/>
            <a:ext cx="530352" cy="530352"/>
          </a:xfrm>
          <a:prstGeom prst="ellipse">
            <a:avLst/>
          </a:prstGeom>
          <a:solidFill>
            <a:srgbClr val="185FA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40" name="Text 6">
            <a:extLst>
              <a:ext uri="{FF2B5EF4-FFF2-40B4-BE49-F238E27FC236}">
                <a16:creationId xmlns:a16="http://schemas.microsoft.com/office/drawing/2014/main" id="{857D2A49-E62E-8DA2-98A6-DB1E2C1F7BCD}"/>
              </a:ext>
            </a:extLst>
          </p:cNvPr>
          <p:cNvSpPr/>
          <p:nvPr/>
        </p:nvSpPr>
        <p:spPr>
          <a:xfrm>
            <a:off x="960120" y="114300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Activate the Python environment</a:t>
            </a:r>
            <a:endParaRPr lang="en-US" sz="1700" dirty="0"/>
          </a:p>
        </p:txBody>
      </p:sp>
      <p:sp>
        <p:nvSpPr>
          <p:cNvPr id="41" name="Text 8">
            <a:extLst>
              <a:ext uri="{FF2B5EF4-FFF2-40B4-BE49-F238E27FC236}">
                <a16:creationId xmlns:a16="http://schemas.microsoft.com/office/drawing/2014/main" id="{37904E96-046B-9392-4EA8-9520EF599314}"/>
              </a:ext>
            </a:extLst>
          </p:cNvPr>
          <p:cNvSpPr/>
          <p:nvPr/>
        </p:nvSpPr>
        <p:spPr>
          <a:xfrm>
            <a:off x="402336" y="1719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</a:t>
            </a:r>
            <a:endParaRPr lang="en-US" sz="900" dirty="0"/>
          </a:p>
        </p:txBody>
      </p:sp>
      <p:sp>
        <p:nvSpPr>
          <p:cNvPr id="42" name="Text 9">
            <a:extLst>
              <a:ext uri="{FF2B5EF4-FFF2-40B4-BE49-F238E27FC236}">
                <a16:creationId xmlns:a16="http://schemas.microsoft.com/office/drawing/2014/main" id="{CE5548EB-2394-9968-244F-A3B449CB8531}"/>
              </a:ext>
            </a:extLst>
          </p:cNvPr>
          <p:cNvSpPr/>
          <p:nvPr/>
        </p:nvSpPr>
        <p:spPr>
          <a:xfrm>
            <a:off x="402336" y="19385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source envs/fl_env/bin/activate</a:t>
            </a:r>
            <a:endParaRPr lang="en-US" sz="1200" dirty="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955C6DD9-341F-A786-ED39-152C5A2DA139}"/>
              </a:ext>
            </a:extLst>
          </p:cNvPr>
          <p:cNvSpPr/>
          <p:nvPr/>
        </p:nvSpPr>
        <p:spPr>
          <a:xfrm>
            <a:off x="4791456" y="171907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00" b="1" kern="0" spc="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900" dirty="0"/>
          </a:p>
        </p:txBody>
      </p:sp>
      <p:sp>
        <p:nvSpPr>
          <p:cNvPr id="44" name="Text 12">
            <a:extLst>
              <a:ext uri="{FF2B5EF4-FFF2-40B4-BE49-F238E27FC236}">
                <a16:creationId xmlns:a16="http://schemas.microsoft.com/office/drawing/2014/main" id="{AF83DA09-6763-82E4-6828-8F406FF63659}"/>
              </a:ext>
            </a:extLst>
          </p:cNvPr>
          <p:cNvSpPr/>
          <p:nvPr/>
        </p:nvSpPr>
        <p:spPr>
          <a:xfrm>
            <a:off x="4791456" y="1938528"/>
            <a:ext cx="3840480" cy="4023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envs\fl_env\Scripts\activate</a:t>
            </a:r>
            <a:endParaRPr lang="en-US" sz="1200" dirty="0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D5D6B153-A4CA-D7C9-DD07-A01D74651C3A}"/>
              </a:ext>
            </a:extLst>
          </p:cNvPr>
          <p:cNvSpPr/>
          <p:nvPr/>
        </p:nvSpPr>
        <p:spPr>
          <a:xfrm>
            <a:off x="457200" y="25786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dirty="0">
                <a:solidFill>
                  <a:srgbClr val="0D4A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active, you will see  (fl_env)  at the start of the terminal line  ✓</a:t>
            </a:r>
            <a:endParaRPr lang="en-US" sz="1100" dirty="0"/>
          </a:p>
        </p:txBody>
      </p:sp>
      <p:sp>
        <p:nvSpPr>
          <p:cNvPr id="46" name="Shape 15">
            <a:extLst>
              <a:ext uri="{FF2B5EF4-FFF2-40B4-BE49-F238E27FC236}">
                <a16:creationId xmlns:a16="http://schemas.microsoft.com/office/drawing/2014/main" id="{C795EEF9-F60D-8B2C-5091-8904775D6C8A}"/>
              </a:ext>
            </a:extLst>
          </p:cNvPr>
          <p:cNvSpPr/>
          <p:nvPr/>
        </p:nvSpPr>
        <p:spPr>
          <a:xfrm>
            <a:off x="274320" y="3072384"/>
            <a:ext cx="8595360" cy="0"/>
          </a:xfrm>
          <a:prstGeom prst="line">
            <a:avLst/>
          </a:prstGeom>
          <a:noFill/>
          <a:ln w="12700">
            <a:solidFill>
              <a:srgbClr val="D0DD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16ACC103-E2A3-045D-45A5-98376B56A197}"/>
              </a:ext>
            </a:extLst>
          </p:cNvPr>
          <p:cNvSpPr/>
          <p:nvPr/>
        </p:nvSpPr>
        <p:spPr>
          <a:xfrm>
            <a:off x="274320" y="3218688"/>
            <a:ext cx="530352" cy="530352"/>
          </a:xfrm>
          <a:prstGeom prst="ellipse">
            <a:avLst/>
          </a:prstGeom>
          <a:solidFill>
            <a:srgbClr val="185FA5"/>
          </a:solidFill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48" name="Text 18">
            <a:extLst>
              <a:ext uri="{FF2B5EF4-FFF2-40B4-BE49-F238E27FC236}">
                <a16:creationId xmlns:a16="http://schemas.microsoft.com/office/drawing/2014/main" id="{72D09D52-08B0-F6E1-CDA3-5F321970DBD7}"/>
              </a:ext>
            </a:extLst>
          </p:cNvPr>
          <p:cNvSpPr/>
          <p:nvPr/>
        </p:nvSpPr>
        <p:spPr>
          <a:xfrm>
            <a:off x="960120" y="3246120"/>
            <a:ext cx="7772400" cy="4206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Drop your data files into  input_zips/</a:t>
            </a:r>
            <a:endParaRPr lang="en-US" sz="1700" dirty="0"/>
          </a:p>
        </p:txBody>
      </p:sp>
      <p:sp>
        <p:nvSpPr>
          <p:cNvPr id="49" name="Text 20">
            <a:extLst>
              <a:ext uri="{FF2B5EF4-FFF2-40B4-BE49-F238E27FC236}">
                <a16:creationId xmlns:a16="http://schemas.microsoft.com/office/drawing/2014/main" id="{31648FA9-2079-EEA1-D7BE-18A90E30CCF3}"/>
              </a:ext>
            </a:extLst>
          </p:cNvPr>
          <p:cNvSpPr/>
          <p:nvPr/>
        </p:nvSpPr>
        <p:spPr>
          <a:xfrm>
            <a:off x="457200" y="3803904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8AB4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my_project / input_zips /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batch1.zip   batch2.zip   batch3.zip   …  ← add as many as you need</a:t>
            </a:r>
            <a:endParaRPr lang="en-US" sz="1200" dirty="0"/>
          </a:p>
        </p:txBody>
      </p:sp>
      <p:sp>
        <p:nvSpPr>
          <p:cNvPr id="50" name="Text 21">
            <a:extLst>
              <a:ext uri="{FF2B5EF4-FFF2-40B4-BE49-F238E27FC236}">
                <a16:creationId xmlns:a16="http://schemas.microsoft.com/office/drawing/2014/main" id="{46A2CC18-4290-8C58-0101-68BE280F2D55}"/>
              </a:ext>
            </a:extLst>
          </p:cNvPr>
          <p:cNvSpPr/>
          <p:nvPr/>
        </p:nvSpPr>
        <p:spPr>
          <a:xfrm>
            <a:off x="274320" y="46634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i="1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from CVAT in COCO format (.zip). The pipeline finds and merges them automatically.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3C3489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3152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8C4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310896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command does everything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645920" y="1097280"/>
            <a:ext cx="5852160" cy="582010"/>
          </a:xfrm>
          <a:prstGeom prst="rect">
            <a:avLst/>
          </a:prstGeom>
          <a:solidFill>
            <a:srgbClr val="1A2C3D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645920" y="1097280"/>
            <a:ext cx="5852160" cy="5820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2000" b="1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 '(0) run_all.py'</a:t>
            </a:r>
            <a:endParaRPr lang="en-US" sz="2000">
              <a:latin typeface="Consola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74320" y="1762773"/>
            <a:ext cx="8595360" cy="290352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762773"/>
            <a:ext cx="54864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762773"/>
            <a:ext cx="457200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132320" y="1762773"/>
            <a:ext cx="173736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82813"/>
            <a:ext cx="8595360" cy="46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7472" y="2174253"/>
            <a:ext cx="320040" cy="2903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" y="2174253"/>
            <a:ext cx="32004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22960" y="2119389"/>
            <a:ext cx="4114800" cy="22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Prepare dataset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2338845"/>
            <a:ext cx="5943600" cy="17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Merges all your zip files into one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2192541"/>
            <a:ext cx="1645920" cy="244632"/>
          </a:xfrm>
          <a:prstGeom prst="roundRect">
            <a:avLst>
              <a:gd name="adj" fmla="val 20000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95160" y="2192541"/>
            <a:ext cx="1645920" cy="24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576589"/>
            <a:ext cx="8595360" cy="4640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Shape 18"/>
          <p:cNvSpPr/>
          <p:nvPr/>
        </p:nvSpPr>
        <p:spPr>
          <a:xfrm>
            <a:off x="347472" y="2668029"/>
            <a:ext cx="320040" cy="2903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1" name="Text 19"/>
          <p:cNvSpPr/>
          <p:nvPr/>
        </p:nvSpPr>
        <p:spPr>
          <a:xfrm>
            <a:off x="347472" y="2668029"/>
            <a:ext cx="32004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2613165"/>
            <a:ext cx="4114800" cy="22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analysis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2832621"/>
            <a:ext cx="5943600" cy="17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class counts — follow on-screen prompts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995160" y="2686317"/>
            <a:ext cx="1645920" cy="244632"/>
          </a:xfrm>
          <a:prstGeom prst="roundRect">
            <a:avLst>
              <a:gd name="adj" fmla="val 20000"/>
            </a:avLst>
          </a:prstGeom>
          <a:solidFill>
            <a:srgbClr val="E89820">
              <a:alpha val="88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995160" y="2686317"/>
            <a:ext cx="1645920" cy="24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A45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Follow prompts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070365"/>
            <a:ext cx="8595360" cy="46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5"/>
          <p:cNvSpPr/>
          <p:nvPr/>
        </p:nvSpPr>
        <p:spPr>
          <a:xfrm>
            <a:off x="347472" y="3161805"/>
            <a:ext cx="320040" cy="2903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28" name="Text 26"/>
          <p:cNvSpPr/>
          <p:nvPr/>
        </p:nvSpPr>
        <p:spPr>
          <a:xfrm>
            <a:off x="347472" y="3161805"/>
            <a:ext cx="32004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3106941"/>
            <a:ext cx="4114800" cy="22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Split dataset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22960" y="3326397"/>
            <a:ext cx="5943600" cy="17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train / 15% val / 15% test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995160" y="3180093"/>
            <a:ext cx="1645920" cy="244632"/>
          </a:xfrm>
          <a:prstGeom prst="roundRect">
            <a:avLst>
              <a:gd name="adj" fmla="val 20000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6995160" y="3180093"/>
            <a:ext cx="1645920" cy="24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3564141"/>
            <a:ext cx="8595360" cy="4640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34" name="Shape 32"/>
          <p:cNvSpPr/>
          <p:nvPr/>
        </p:nvSpPr>
        <p:spPr>
          <a:xfrm>
            <a:off x="347472" y="3655581"/>
            <a:ext cx="320040" cy="2903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35" name="Text 33"/>
          <p:cNvSpPr/>
          <p:nvPr/>
        </p:nvSpPr>
        <p:spPr>
          <a:xfrm>
            <a:off x="347472" y="3655581"/>
            <a:ext cx="32004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822960" y="3600717"/>
            <a:ext cx="4114800" cy="22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Keypoints extraction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822960" y="3820173"/>
            <a:ext cx="5943600" cy="17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Crops each implant, extracts features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95160" y="3673869"/>
            <a:ext cx="1645920" cy="244632"/>
          </a:xfrm>
          <a:prstGeom prst="roundRect">
            <a:avLst>
              <a:gd name="adj" fmla="val 20000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6995160" y="3673869"/>
            <a:ext cx="1645920" cy="24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74320" y="4057917"/>
            <a:ext cx="8595360" cy="4640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9"/>
          <p:cNvSpPr/>
          <p:nvPr/>
        </p:nvSpPr>
        <p:spPr>
          <a:xfrm>
            <a:off x="347472" y="4149357"/>
            <a:ext cx="320040" cy="2903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42" name="Text 40"/>
          <p:cNvSpPr/>
          <p:nvPr/>
        </p:nvSpPr>
        <p:spPr>
          <a:xfrm>
            <a:off x="347472" y="4149357"/>
            <a:ext cx="32004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" y="4094493"/>
            <a:ext cx="4114800" cy="22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Augmentation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822960" y="4313949"/>
            <a:ext cx="5943600" cy="17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extra training images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995160" y="4167645"/>
            <a:ext cx="1645920" cy="244632"/>
          </a:xfrm>
          <a:prstGeom prst="roundRect">
            <a:avLst>
              <a:gd name="adj" fmla="val 20000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995160" y="4167645"/>
            <a:ext cx="1645920" cy="24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74320" y="4551693"/>
            <a:ext cx="8595360" cy="4640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48" name="Shape 46"/>
          <p:cNvSpPr/>
          <p:nvPr/>
        </p:nvSpPr>
        <p:spPr>
          <a:xfrm>
            <a:off x="347472" y="4643133"/>
            <a:ext cx="320040" cy="290352"/>
          </a:xfrm>
          <a:prstGeom prst="ellipse">
            <a:avLst/>
          </a:prstGeom>
          <a:solidFill>
            <a:srgbClr val="534AB7"/>
          </a:solidFill>
          <a:ln/>
        </p:spPr>
      </p:sp>
      <p:sp>
        <p:nvSpPr>
          <p:cNvPr id="49" name="Text 47"/>
          <p:cNvSpPr/>
          <p:nvPr/>
        </p:nvSpPr>
        <p:spPr>
          <a:xfrm>
            <a:off x="347472" y="4643133"/>
            <a:ext cx="320040" cy="29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822960" y="4588269"/>
            <a:ext cx="4114800" cy="22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2C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 AI models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2960" y="4807725"/>
            <a:ext cx="5943600" cy="17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7A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UNet segmentation + ImplantClassifier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95160" y="4661421"/>
            <a:ext cx="1645920" cy="244632"/>
          </a:xfrm>
          <a:prstGeom prst="roundRect">
            <a:avLst>
              <a:gd name="adj" fmla="val 20000"/>
            </a:avLst>
          </a:prstGeom>
          <a:solidFill>
            <a:srgbClr val="028090">
              <a:alpha val="85000"/>
            </a:srgbClr>
          </a:solidFill>
          <a:ln/>
        </p:spPr>
      </p:sp>
      <p:sp>
        <p:nvSpPr>
          <p:cNvPr id="53" name="Text 51"/>
          <p:cNvSpPr/>
          <p:nvPr/>
        </p:nvSpPr>
        <p:spPr>
          <a:xfrm>
            <a:off x="6995160" y="4661421"/>
            <a:ext cx="1645920" cy="244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26B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Auto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Useful commands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Copy-paste these whenever you need to do something specific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8595360" cy="548640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98448"/>
            <a:ext cx="457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33502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everything from scratch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554480"/>
            <a:ext cx="822960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 '(0) run_all.py'</a:t>
            </a:r>
            <a:endParaRPr lang="en-US" sz="1300">
              <a:latin typeface="Consola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74320" y="1920240"/>
            <a:ext cx="8595360" cy="548640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20240"/>
            <a:ext cx="457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956816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from step 4 (after fixing an error)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176272"/>
            <a:ext cx="822960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 '(0) run_all.py' --from 4</a:t>
            </a:r>
            <a:endParaRPr lang="en-US" sz="1300" dirty="0">
              <a:latin typeface="Consola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2542032"/>
            <a:ext cx="8595360" cy="548640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542032"/>
            <a:ext cx="457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578608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only the training step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798064"/>
            <a:ext cx="822960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 '(0) run_all.py' --only 6</a:t>
            </a:r>
            <a:endParaRPr lang="en-US" sz="1300">
              <a:latin typeface="Consola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4320" y="3163824"/>
            <a:ext cx="8595360" cy="548640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3163824"/>
            <a:ext cx="457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502920" y="3200400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without being asked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3419856"/>
            <a:ext cx="822960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 '(0) run_all.py' --only 6 --retrain</a:t>
            </a:r>
            <a:endParaRPr lang="en-US" sz="1300">
              <a:latin typeface="Consola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4320" y="3785616"/>
            <a:ext cx="8595360" cy="548640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785616"/>
            <a:ext cx="457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82219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augmentation (step 5)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4041648"/>
            <a:ext cx="822960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 '(0) run_all.py' --skip 5</a:t>
            </a:r>
            <a:endParaRPr lang="en-US" sz="1300" dirty="0">
              <a:latin typeface="Consolas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74320" y="4407408"/>
            <a:ext cx="8595360" cy="548640"/>
          </a:xfrm>
          <a:prstGeom prst="rect">
            <a:avLst/>
          </a:prstGeom>
          <a:solidFill>
            <a:srgbClr val="132030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407408"/>
            <a:ext cx="45720" cy="548640"/>
          </a:xfrm>
          <a:prstGeom prst="rect">
            <a:avLst/>
          </a:prstGeom>
          <a:solidFill>
            <a:srgbClr val="02C39A"/>
          </a:solidFill>
          <a:ln/>
        </p:spPr>
      </p:sp>
      <p:sp>
        <p:nvSpPr>
          <p:cNvPr id="27" name="Text 25"/>
          <p:cNvSpPr/>
          <p:nvPr/>
        </p:nvSpPr>
        <p:spPr>
          <a:xfrm>
            <a:off x="502920" y="4443984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A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re-run everything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2920" y="4663440"/>
            <a:ext cx="8229600" cy="23774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300" b="1">
                <a:solidFill>
                  <a:srgbClr val="02C39A"/>
                </a:solidFill>
                <a:latin typeface="Consolas"/>
                <a:ea typeface="Consolas" pitchFamily="34" charset="-122"/>
                <a:cs typeface="Consolas" pitchFamily="34" charset="-120"/>
              </a:rPr>
              <a:t>python '(0) run_all.py' --force</a:t>
            </a:r>
            <a:endParaRPr lang="en-US" sz="1300">
              <a:latin typeface="Consola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Dental Implant Pipeline – Quick Install Guide</dc:title>
  <dc:subject>PptxGenJS Presentation</dc:subject>
  <dc:creator>PptxGenJS</dc:creator>
  <cp:lastModifiedBy>PptxGenJS</cp:lastModifiedBy>
  <cp:revision>161</cp:revision>
  <dcterms:created xsi:type="dcterms:W3CDTF">2026-05-11T10:28:12Z</dcterms:created>
  <dcterms:modified xsi:type="dcterms:W3CDTF">2026-05-11T11:21:28Z</dcterms:modified>
</cp:coreProperties>
</file>